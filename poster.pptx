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21396325" cy="3026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5" d="100"/>
          <a:sy n="25" d="100"/>
        </p:scale>
        <p:origin x="31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25" y="4953466"/>
            <a:ext cx="18186876" cy="10537496"/>
          </a:xfrm>
        </p:spPr>
        <p:txBody>
          <a:bodyPr anchor="b"/>
          <a:lstStyle>
            <a:lvl1pPr algn="ctr">
              <a:defRPr sz="14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4541" y="15897328"/>
            <a:ext cx="16047244" cy="7307583"/>
          </a:xfrm>
        </p:spPr>
        <p:txBody>
          <a:bodyPr/>
          <a:lstStyle>
            <a:lvl1pPr marL="0" indent="0" algn="ctr">
              <a:buNone/>
              <a:defRPr sz="5616"/>
            </a:lvl1pPr>
            <a:lvl2pPr marL="1069802" indent="0" algn="ctr">
              <a:buNone/>
              <a:defRPr sz="4680"/>
            </a:lvl2pPr>
            <a:lvl3pPr marL="2139605" indent="0" algn="ctr">
              <a:buNone/>
              <a:defRPr sz="4212"/>
            </a:lvl3pPr>
            <a:lvl4pPr marL="3209407" indent="0" algn="ctr">
              <a:buNone/>
              <a:defRPr sz="3744"/>
            </a:lvl4pPr>
            <a:lvl5pPr marL="4279209" indent="0" algn="ctr">
              <a:buNone/>
              <a:defRPr sz="3744"/>
            </a:lvl5pPr>
            <a:lvl6pPr marL="5349011" indent="0" algn="ctr">
              <a:buNone/>
              <a:defRPr sz="3744"/>
            </a:lvl6pPr>
            <a:lvl7pPr marL="6418814" indent="0" algn="ctr">
              <a:buNone/>
              <a:defRPr sz="3744"/>
            </a:lvl7pPr>
            <a:lvl8pPr marL="7488616" indent="0" algn="ctr">
              <a:buNone/>
              <a:defRPr sz="3744"/>
            </a:lvl8pPr>
            <a:lvl9pPr marL="8558418" indent="0" algn="ctr">
              <a:buNone/>
              <a:defRPr sz="37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0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9855" y="7545809"/>
            <a:ext cx="18454330" cy="12590343"/>
          </a:xfrm>
        </p:spPr>
        <p:txBody>
          <a:bodyPr anchor="b"/>
          <a:lstStyle>
            <a:lvl1pPr>
              <a:defRPr sz="14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9855" y="20255262"/>
            <a:ext cx="18454330" cy="6620964"/>
          </a:xfrm>
        </p:spPr>
        <p:txBody>
          <a:bodyPr/>
          <a:lstStyle>
            <a:lvl1pPr marL="0" indent="0">
              <a:buNone/>
              <a:defRPr sz="5616">
                <a:solidFill>
                  <a:schemeClr val="tx1"/>
                </a:solidFill>
              </a:defRPr>
            </a:lvl1pPr>
            <a:lvl2pPr marL="1069802" indent="0">
              <a:buNone/>
              <a:defRPr sz="4680">
                <a:solidFill>
                  <a:schemeClr val="tx1">
                    <a:tint val="75000"/>
                  </a:schemeClr>
                </a:solidFill>
              </a:defRPr>
            </a:lvl2pPr>
            <a:lvl3pPr marL="2139605" indent="0">
              <a:buNone/>
              <a:defRPr sz="4212">
                <a:solidFill>
                  <a:schemeClr val="tx1">
                    <a:tint val="75000"/>
                  </a:schemeClr>
                </a:solidFill>
              </a:defRPr>
            </a:lvl3pPr>
            <a:lvl4pPr marL="3209407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4pPr>
            <a:lvl5pPr marL="4279209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5pPr>
            <a:lvl6pPr marL="5349011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6pPr>
            <a:lvl7pPr marL="6418814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7pPr>
            <a:lvl8pPr marL="7488616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8pPr>
            <a:lvl9pPr marL="8558418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3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997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31890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2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1611459"/>
            <a:ext cx="18454330" cy="58502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87" y="7419688"/>
            <a:ext cx="9051647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3787" y="11055963"/>
            <a:ext cx="9051647" cy="162616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31891" y="7419688"/>
            <a:ext cx="9096225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31891" y="11055963"/>
            <a:ext cx="9096225" cy="162616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79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6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defRPr sz="74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6225" y="4357934"/>
            <a:ext cx="10831890" cy="21509383"/>
          </a:xfrm>
        </p:spPr>
        <p:txBody>
          <a:bodyPr/>
          <a:lstStyle>
            <a:lvl1pPr>
              <a:defRPr sz="7488"/>
            </a:lvl1pPr>
            <a:lvl2pPr>
              <a:defRPr sz="6552"/>
            </a:lvl2pPr>
            <a:lvl3pPr>
              <a:defRPr sz="5616"/>
            </a:lvl3pPr>
            <a:lvl4pPr>
              <a:defRPr sz="4680"/>
            </a:lvl4pPr>
            <a:lvl5pPr>
              <a:defRPr sz="4680"/>
            </a:lvl5pPr>
            <a:lvl6pPr>
              <a:defRPr sz="4680"/>
            </a:lvl6pPr>
            <a:lvl7pPr>
              <a:defRPr sz="4680"/>
            </a:lvl7pPr>
            <a:lvl8pPr>
              <a:defRPr sz="4680"/>
            </a:lvl8pPr>
            <a:lvl9pPr>
              <a:defRPr sz="468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6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defRPr sz="74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6225" y="4357934"/>
            <a:ext cx="10831890" cy="21509383"/>
          </a:xfrm>
        </p:spPr>
        <p:txBody>
          <a:bodyPr anchor="t"/>
          <a:lstStyle>
            <a:lvl1pPr marL="0" indent="0">
              <a:buNone/>
              <a:defRPr sz="7488"/>
            </a:lvl1pPr>
            <a:lvl2pPr marL="1069802" indent="0">
              <a:buNone/>
              <a:defRPr sz="6552"/>
            </a:lvl2pPr>
            <a:lvl3pPr marL="2139605" indent="0">
              <a:buNone/>
              <a:defRPr sz="5616"/>
            </a:lvl3pPr>
            <a:lvl4pPr marL="3209407" indent="0">
              <a:buNone/>
              <a:defRPr sz="4680"/>
            </a:lvl4pPr>
            <a:lvl5pPr marL="4279209" indent="0">
              <a:buNone/>
              <a:defRPr sz="4680"/>
            </a:lvl5pPr>
            <a:lvl6pPr marL="5349011" indent="0">
              <a:buNone/>
              <a:defRPr sz="4680"/>
            </a:lvl6pPr>
            <a:lvl7pPr marL="6418814" indent="0">
              <a:buNone/>
              <a:defRPr sz="4680"/>
            </a:lvl7pPr>
            <a:lvl8pPr marL="7488616" indent="0">
              <a:buNone/>
              <a:defRPr sz="4680"/>
            </a:lvl8pPr>
            <a:lvl9pPr marL="8558418" indent="0">
              <a:buNone/>
              <a:defRPr sz="4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9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2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11746" y="1611452"/>
            <a:ext cx="4613583" cy="25650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998" y="1611452"/>
            <a:ext cx="13573294" cy="25650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9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998" y="1611459"/>
            <a:ext cx="18454330" cy="5850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998" y="8057261"/>
            <a:ext cx="18454330" cy="1920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997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DC1AB-DFEF-4E69-ADD9-F403144A751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7533" y="28053287"/>
            <a:ext cx="7221260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11155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4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9605" rtl="0" eaLnBrk="1" latinLnBrk="0" hangingPunct="1">
        <a:lnSpc>
          <a:spcPct val="90000"/>
        </a:lnSpc>
        <a:spcBef>
          <a:spcPct val="0"/>
        </a:spcBef>
        <a:buNone/>
        <a:defRPr sz="102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901" indent="-534901" algn="l" defTabSz="2139605" rtl="0" eaLnBrk="1" latinLnBrk="0" hangingPunct="1">
        <a:lnSpc>
          <a:spcPct val="90000"/>
        </a:lnSpc>
        <a:spcBef>
          <a:spcPts val="2340"/>
        </a:spcBef>
        <a:buFont typeface="Arial" panose="020B0604020202020204" pitchFamily="34" charset="0"/>
        <a:buChar char="•"/>
        <a:defRPr sz="6552" kern="1200">
          <a:solidFill>
            <a:schemeClr val="tx1"/>
          </a:solidFill>
          <a:latin typeface="+mn-lt"/>
          <a:ea typeface="+mn-ea"/>
          <a:cs typeface="+mn-cs"/>
        </a:defRPr>
      </a:lvl1pPr>
      <a:lvl2pPr marL="1604703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2pPr>
      <a:lvl3pPr marL="2674506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680" kern="1200">
          <a:solidFill>
            <a:schemeClr val="tx1"/>
          </a:solidFill>
          <a:latin typeface="+mn-lt"/>
          <a:ea typeface="+mn-ea"/>
          <a:cs typeface="+mn-cs"/>
        </a:defRPr>
      </a:lvl3pPr>
      <a:lvl4pPr marL="3744308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4pPr>
      <a:lvl5pPr marL="4814110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5pPr>
      <a:lvl6pPr marL="5883913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6pPr>
      <a:lvl7pPr marL="6953715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7pPr>
      <a:lvl8pPr marL="8023517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8pPr>
      <a:lvl9pPr marL="9093319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1pPr>
      <a:lvl2pPr marL="1069802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2pPr>
      <a:lvl3pPr marL="2139605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3pPr>
      <a:lvl4pPr marL="3209407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4pPr>
      <a:lvl5pPr marL="4279209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5pPr>
      <a:lvl6pPr marL="5349011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6pPr>
      <a:lvl7pPr marL="6418814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7pPr>
      <a:lvl8pPr marL="7488616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8pPr>
      <a:lvl9pPr marL="8558418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FD14D6-8A0B-4449-9719-B5D69EC0D76B}"/>
              </a:ext>
            </a:extLst>
          </p:cNvPr>
          <p:cNvSpPr/>
          <p:nvPr/>
        </p:nvSpPr>
        <p:spPr>
          <a:xfrm>
            <a:off x="-1" y="-280988"/>
            <a:ext cx="21396325" cy="1792288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07E90183-F57D-40AB-B9A0-CD958B03F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6700" y="5555"/>
            <a:ext cx="3308880" cy="122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6AA891-E97B-4896-8426-F3DB06F0987C}"/>
              </a:ext>
            </a:extLst>
          </p:cNvPr>
          <p:cNvSpPr/>
          <p:nvPr/>
        </p:nvSpPr>
        <p:spPr>
          <a:xfrm>
            <a:off x="0" y="29313168"/>
            <a:ext cx="21396325" cy="965886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37D3D8C0-E287-4802-A19E-0FA3C1E06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52527"/>
            <a:ext cx="13351782" cy="72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4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Department of Chemical and Environmental Engineering  </a:t>
            </a:r>
            <a:r>
              <a:rPr lang="en-US" altLang="zh-CN" sz="4000" b="1" dirty="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(CEE)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83278-A505-4022-A9A1-F7F4ADC3830A}"/>
              </a:ext>
            </a:extLst>
          </p:cNvPr>
          <p:cNvSpPr txBox="1"/>
          <p:nvPr/>
        </p:nvSpPr>
        <p:spPr>
          <a:xfrm>
            <a:off x="9813924" y="29324947"/>
            <a:ext cx="115229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Dingyao Guo(20617079); Wenyi Han(20514272)</a:t>
            </a:r>
          </a:p>
          <a:p>
            <a:pPr algn="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Supervisor: Chengheng Pang &amp; Yuqin Xiao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8B3CD-9115-FDBB-066D-B3B8BB812A06}"/>
              </a:ext>
            </a:extLst>
          </p:cNvPr>
          <p:cNvSpPr txBox="1"/>
          <p:nvPr/>
        </p:nvSpPr>
        <p:spPr>
          <a:xfrm>
            <a:off x="0" y="1378876"/>
            <a:ext cx="213963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/>
              <a:t>Data-Driven Analysis of Graphene Biocompatibility Factors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E1F34-21DA-1DC2-BFB3-8F76E34C4B96}"/>
              </a:ext>
            </a:extLst>
          </p:cNvPr>
          <p:cNvSpPr txBox="1"/>
          <p:nvPr/>
        </p:nvSpPr>
        <p:spPr>
          <a:xfrm>
            <a:off x="0" y="2571877"/>
            <a:ext cx="10096499" cy="76944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4400" b="1" dirty="0"/>
              <a:t>Graphene Types &amp; Preparation Methods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CC96B7-8D3E-9B6A-2515-5484F69FC57A}"/>
              </a:ext>
            </a:extLst>
          </p:cNvPr>
          <p:cNvSpPr txBox="1"/>
          <p:nvPr/>
        </p:nvSpPr>
        <p:spPr>
          <a:xfrm>
            <a:off x="10698164" y="2343143"/>
            <a:ext cx="10698162" cy="76944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4400" b="1" dirty="0"/>
              <a:t>Literature Data Summary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682338-54B7-4CCE-5243-595F714196FD}"/>
              </a:ext>
            </a:extLst>
          </p:cNvPr>
          <p:cNvSpPr txBox="1"/>
          <p:nvPr/>
        </p:nvSpPr>
        <p:spPr>
          <a:xfrm>
            <a:off x="10727658" y="17328390"/>
            <a:ext cx="10698162" cy="76944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4400" b="1" dirty="0"/>
              <a:t>Machine Learning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3F3229-D52B-D58B-615C-445BFB175A1B}"/>
              </a:ext>
            </a:extLst>
          </p:cNvPr>
          <p:cNvSpPr txBox="1"/>
          <p:nvPr/>
        </p:nvSpPr>
        <p:spPr>
          <a:xfrm>
            <a:off x="1" y="3341317"/>
            <a:ext cx="10096499" cy="88947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800" b="1" dirty="0"/>
              <a:t>Pristine Graphene (pG)</a:t>
            </a:r>
            <a:endParaRPr lang="en-US" sz="3800" dirty="0"/>
          </a:p>
          <a:p>
            <a:pPr algn="just"/>
            <a:r>
              <a:rPr lang="en-US" sz="3800" dirty="0"/>
              <a:t>• High conductivity, low oxygen</a:t>
            </a:r>
          </a:p>
          <a:p>
            <a:pPr algn="just"/>
            <a:r>
              <a:rPr lang="en-US" sz="3800" dirty="0"/>
              <a:t>• Made by exfoliation or CVD</a:t>
            </a:r>
          </a:p>
          <a:p>
            <a:pPr algn="just"/>
            <a:r>
              <a:rPr lang="en-US" sz="3800" dirty="0"/>
              <a:t>• Poor dispersibility → variable toxicity</a:t>
            </a:r>
          </a:p>
          <a:p>
            <a:r>
              <a:rPr lang="en-US" sz="3800" b="1" dirty="0"/>
              <a:t>Graphene Oxide (GO)</a:t>
            </a:r>
          </a:p>
          <a:p>
            <a:r>
              <a:rPr lang="en-US" sz="3800" dirty="0"/>
              <a:t>• Hydrophilic, tunable</a:t>
            </a:r>
          </a:p>
          <a:p>
            <a:r>
              <a:rPr lang="en-US" sz="3800" dirty="0"/>
              <a:t>• Hummers or electrochemical exfoliation</a:t>
            </a:r>
          </a:p>
          <a:p>
            <a:r>
              <a:rPr lang="en-US" sz="3800" dirty="0"/>
              <a:t>• Widely used in biomedicine</a:t>
            </a:r>
          </a:p>
          <a:p>
            <a:r>
              <a:rPr lang="en-US" sz="3800" b="1" dirty="0"/>
              <a:t>Reduced Graphene Oxide(rGO)</a:t>
            </a:r>
          </a:p>
          <a:p>
            <a:r>
              <a:rPr lang="en-US" sz="3800" dirty="0"/>
              <a:t>• Obtained by reducing GO (chemical/thermal)</a:t>
            </a:r>
          </a:p>
          <a:p>
            <a:r>
              <a:rPr lang="en-US" sz="3800" dirty="0"/>
              <a:t>• Balances conductivity and oxygen groups</a:t>
            </a:r>
          </a:p>
          <a:p>
            <a:r>
              <a:rPr lang="en-US" sz="3800" b="1" dirty="0"/>
              <a:t>Alternative Synthesis</a:t>
            </a:r>
          </a:p>
          <a:p>
            <a:r>
              <a:rPr lang="en-US" sz="3800" dirty="0"/>
              <a:t>•Physical exfoliation → broad size range</a:t>
            </a:r>
          </a:p>
          <a:p>
            <a:r>
              <a:rPr lang="en-US" sz="3800" dirty="0"/>
              <a:t>• Green/biomass synthesis → eco-friendly but less scalable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318F70-7E0C-427E-F887-D3D455246F7C}"/>
              </a:ext>
            </a:extLst>
          </p:cNvPr>
          <p:cNvSpPr txBox="1"/>
          <p:nvPr/>
        </p:nvSpPr>
        <p:spPr>
          <a:xfrm>
            <a:off x="10698164" y="3053133"/>
            <a:ext cx="10698162" cy="31085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800" dirty="0"/>
              <a:t>• </a:t>
            </a:r>
            <a:r>
              <a:rPr lang="en-US" sz="3800" b="1" dirty="0"/>
              <a:t>Method</a:t>
            </a:r>
            <a:r>
              <a:rPr lang="en-US" sz="3800" dirty="0"/>
              <a:t>: 40 studies grouped into 6 categories (GO, rGO, pG, GQD, Composites, Other)</a:t>
            </a:r>
          </a:p>
          <a:p>
            <a:r>
              <a:rPr lang="en-US" sz="3800" dirty="0"/>
              <a:t>• </a:t>
            </a:r>
            <a:r>
              <a:rPr lang="en-US" sz="3800" b="1" dirty="0"/>
              <a:t>Averaged parameters</a:t>
            </a:r>
            <a:r>
              <a:rPr lang="en-US" sz="3800" dirty="0"/>
              <a:t>: size, layers, C/O ratio, viability, dose</a:t>
            </a:r>
          </a:p>
          <a:p>
            <a:r>
              <a:rPr lang="en-US" sz="3800" dirty="0"/>
              <a:t>• </a:t>
            </a:r>
            <a:r>
              <a:rPr lang="en-US" sz="3800" b="1" dirty="0"/>
              <a:t>Shown as heatmap </a:t>
            </a:r>
            <a:r>
              <a:rPr lang="en-US" sz="3800" dirty="0"/>
              <a:t>(blue = low, yellow = high)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8393EE-965D-E4C4-3138-3DA299737A9D}"/>
              </a:ext>
            </a:extLst>
          </p:cNvPr>
          <p:cNvSpPr txBox="1"/>
          <p:nvPr/>
        </p:nvSpPr>
        <p:spPr>
          <a:xfrm>
            <a:off x="10727661" y="12578497"/>
            <a:ext cx="10698162" cy="48936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800" b="1" dirty="0"/>
              <a:t>Key Findings:</a:t>
            </a:r>
            <a:endParaRPr lang="en-US" sz="3800" dirty="0"/>
          </a:p>
          <a:p>
            <a:r>
              <a:rPr lang="en-US" sz="3800" dirty="0"/>
              <a:t>• </a:t>
            </a:r>
            <a:r>
              <a:rPr lang="en-US" sz="3800" b="1" dirty="0"/>
              <a:t>GO</a:t>
            </a:r>
            <a:r>
              <a:rPr lang="en-US" sz="3800" dirty="0"/>
              <a:t>: widest size range, moderate viability (50–95%)</a:t>
            </a:r>
          </a:p>
          <a:p>
            <a:r>
              <a:rPr lang="en-US" sz="3800" dirty="0"/>
              <a:t>• </a:t>
            </a:r>
            <a:r>
              <a:rPr lang="en-US" sz="3800" b="1" dirty="0"/>
              <a:t>rGO</a:t>
            </a:r>
            <a:r>
              <a:rPr lang="en-US" sz="3800" dirty="0"/>
              <a:t>: more toxic at low doses; reduction method crucial</a:t>
            </a:r>
          </a:p>
          <a:p>
            <a:r>
              <a:rPr lang="en-US" sz="3800" dirty="0"/>
              <a:t>• </a:t>
            </a:r>
            <a:r>
              <a:rPr lang="en-US" sz="3800" b="1" dirty="0"/>
              <a:t>pG</a:t>
            </a:r>
            <a:r>
              <a:rPr lang="en-US" sz="3800" dirty="0"/>
              <a:t>: Variable toxicity due to poor dispersibility</a:t>
            </a:r>
          </a:p>
          <a:p>
            <a:r>
              <a:rPr lang="en-US" sz="3800" dirty="0"/>
              <a:t>• </a:t>
            </a:r>
            <a:r>
              <a:rPr lang="en-US" sz="3800" b="1" dirty="0"/>
              <a:t>GQDs</a:t>
            </a:r>
            <a:r>
              <a:rPr lang="en-US" sz="3800" dirty="0"/>
              <a:t>: highest cell viability (&gt;90%)</a:t>
            </a:r>
          </a:p>
          <a:p>
            <a:r>
              <a:rPr lang="en-US" sz="3800" dirty="0"/>
              <a:t>• </a:t>
            </a:r>
            <a:r>
              <a:rPr lang="en-US" sz="3800" b="1" dirty="0"/>
              <a:t>Composites</a:t>
            </a:r>
            <a:r>
              <a:rPr lang="en-US" sz="3800" dirty="0"/>
              <a:t>: lower toxicity than GO/rGO</a:t>
            </a:r>
          </a:p>
          <a:p>
            <a:r>
              <a:rPr lang="en-US" sz="3800" dirty="0"/>
              <a:t>• </a:t>
            </a:r>
            <a:r>
              <a:rPr lang="en-US" sz="3800" b="1" dirty="0"/>
              <a:t>Overall</a:t>
            </a:r>
            <a:r>
              <a:rPr lang="en-US" sz="3800" dirty="0"/>
              <a:t>: size and oxygen groups are key factors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34CA88-7CD0-4C20-2566-E2D2C45FDB2F}"/>
              </a:ext>
            </a:extLst>
          </p:cNvPr>
          <p:cNvSpPr txBox="1"/>
          <p:nvPr/>
        </p:nvSpPr>
        <p:spPr>
          <a:xfrm>
            <a:off x="0" y="12132717"/>
            <a:ext cx="10096499" cy="76944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4400" b="1" dirty="0"/>
              <a:t>Representative Images Layout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B0D8D15-651C-02C8-2911-9981D1F1C4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" y="13044870"/>
            <a:ext cx="1828801" cy="51346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896B235-770C-4E19-D69B-D36EB946A6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452" y="13035728"/>
            <a:ext cx="4075881" cy="508077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127FF4E-51C3-FDE0-FB12-AAE6BC9BDC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978" y="13044870"/>
            <a:ext cx="5283902" cy="501037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16A8E09-7129-6835-5C85-E9C9D17A68EA}"/>
              </a:ext>
            </a:extLst>
          </p:cNvPr>
          <p:cNvSpPr txBox="1"/>
          <p:nvPr/>
        </p:nvSpPr>
        <p:spPr>
          <a:xfrm>
            <a:off x="-5" y="18670375"/>
            <a:ext cx="10096504" cy="82791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800" b="1" dirty="0"/>
              <a:t>Panel: s-GO, m-GO, l-GO</a:t>
            </a:r>
            <a:endParaRPr lang="en-US" sz="3800" dirty="0"/>
          </a:p>
          <a:p>
            <a:r>
              <a:rPr lang="en-US" sz="3800" b="1" dirty="0"/>
              <a:t>1. Size Distribution</a:t>
            </a:r>
            <a:endParaRPr lang="en-US" sz="3800" dirty="0"/>
          </a:p>
          <a:p>
            <a:r>
              <a:rPr lang="en-US" sz="3800" dirty="0"/>
              <a:t>• s-GO: 0.15 µm, 1–5 layers</a:t>
            </a:r>
          </a:p>
          <a:p>
            <a:r>
              <a:rPr lang="en-US" sz="3800" dirty="0"/>
              <a:t>• m-GO: 0.24 µm, 1–5 layers</a:t>
            </a:r>
          </a:p>
          <a:p>
            <a:r>
              <a:rPr lang="en-US" sz="3800" dirty="0"/>
              <a:t>• l-GO: 1 µm, 1–5 layers</a:t>
            </a:r>
          </a:p>
          <a:p>
            <a:r>
              <a:rPr lang="en-US" sz="3800" b="1" dirty="0"/>
              <a:t>2. Cell Imaging</a:t>
            </a:r>
            <a:endParaRPr lang="en-US" sz="3800" dirty="0"/>
          </a:p>
          <a:p>
            <a:r>
              <a:rPr lang="en-US" sz="3800" dirty="0"/>
              <a:t>• NB4 cell morphology under increasing GO concentrations (0–200 µg/mL)</a:t>
            </a:r>
          </a:p>
          <a:p>
            <a:r>
              <a:rPr lang="en-US" sz="3800" dirty="0"/>
              <a:t>• Higher doses lead to stronger aggregation and reduced cell density</a:t>
            </a:r>
          </a:p>
          <a:p>
            <a:r>
              <a:rPr lang="en-US" sz="3800" b="1" dirty="0"/>
              <a:t>3. Cell Viability</a:t>
            </a:r>
            <a:endParaRPr lang="en-US" sz="3800" dirty="0"/>
          </a:p>
          <a:p>
            <a:r>
              <a:rPr lang="en-US" sz="3800" dirty="0"/>
              <a:t>• s-GO: 70% (10 µg/mL)</a:t>
            </a:r>
          </a:p>
          <a:p>
            <a:r>
              <a:rPr lang="en-US" sz="3800" dirty="0"/>
              <a:t>• m-GO: 75% (20 µg/mL)</a:t>
            </a:r>
          </a:p>
          <a:p>
            <a:r>
              <a:rPr lang="en-US" sz="3800" dirty="0"/>
              <a:t>• l-GO: 78% (30 µg/mL)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786004-D0E9-8E02-F6DD-65AC00AE2EB6}"/>
              </a:ext>
            </a:extLst>
          </p:cNvPr>
          <p:cNvSpPr txBox="1"/>
          <p:nvPr/>
        </p:nvSpPr>
        <p:spPr>
          <a:xfrm>
            <a:off x="-29499" y="18097171"/>
            <a:ext cx="10698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/>
              <a:t>(Gies &amp; Zou, 2018)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A097D7-0C46-8BE6-ADA5-861E83764B31}"/>
              </a:ext>
            </a:extLst>
          </p:cNvPr>
          <p:cNvSpPr txBox="1"/>
          <p:nvPr/>
        </p:nvSpPr>
        <p:spPr>
          <a:xfrm>
            <a:off x="10727661" y="18031759"/>
            <a:ext cx="10698162" cy="47705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3800" dirty="0"/>
              <a:t>• ML models such as RF, SVM, GBM, and NN have been applied to predict and optimize graphene performance in biological, mechanical, and energy systems</a:t>
            </a:r>
          </a:p>
          <a:p>
            <a:r>
              <a:rPr lang="en-US" sz="3800" dirty="0"/>
              <a:t>• Key inputs: size, layers, surface chemistry, synthesis route</a:t>
            </a:r>
            <a:br>
              <a:rPr lang="en-US" sz="3800" dirty="0"/>
            </a:br>
            <a:r>
              <a:rPr lang="en-US" sz="3800" dirty="0"/>
              <a:t>• Typical outputs: cell viability, conductivity, strength, adsorption energy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290AA7-D7B8-9175-2045-CD8E0FFB7DBF}"/>
              </a:ext>
            </a:extLst>
          </p:cNvPr>
          <p:cNvSpPr txBox="1"/>
          <p:nvPr/>
        </p:nvSpPr>
        <p:spPr>
          <a:xfrm>
            <a:off x="10727662" y="27387549"/>
            <a:ext cx="10609244" cy="18466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800" dirty="0"/>
              <a:t>• Example RF model on collected graphene data: </a:t>
            </a:r>
            <a:r>
              <a:rPr lang="en-US" sz="3800" b="1" dirty="0"/>
              <a:t>Layers (0.5997) &gt; Size (0.2085) &gt; C/O ratio (0.1919)</a:t>
            </a:r>
            <a:r>
              <a:rPr lang="en-US" sz="3800" dirty="0"/>
              <a:t>;</a:t>
            </a:r>
            <a:r>
              <a:rPr lang="en-US" sz="3800" b="1" dirty="0"/>
              <a:t> </a:t>
            </a:r>
            <a:r>
              <a:rPr lang="en-US" sz="3800" dirty="0"/>
              <a:t>Model </a:t>
            </a:r>
            <a:r>
              <a:rPr lang="en-US" sz="3800" b="1" dirty="0"/>
              <a:t>R² = 0.82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2781FE-C4DF-8081-73D0-45E215F6F28C}"/>
              </a:ext>
            </a:extLst>
          </p:cNvPr>
          <p:cNvSpPr txBox="1"/>
          <p:nvPr/>
        </p:nvSpPr>
        <p:spPr>
          <a:xfrm>
            <a:off x="-5" y="27175696"/>
            <a:ext cx="10096504" cy="20621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b="1" dirty="0"/>
              <a:t>Acknowledgements</a:t>
            </a:r>
            <a:br>
              <a:rPr lang="en-US" sz="3200" dirty="0"/>
            </a:br>
            <a:r>
              <a:rPr lang="en-US" sz="3200" dirty="0"/>
              <a:t>We thank Prof. Chengheng Pang and Dr. Yuqin Xiao for guidance, and the</a:t>
            </a:r>
            <a:r>
              <a:rPr lang="en-US" sz="3200" dirty="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en-US" sz="3200" dirty="0">
                <a:latin typeface="Calibri" panose="020F0502020204030204" pitchFamily="34" charset="0"/>
                <a:ea typeface="SimSun" panose="02010600030101010101" pitchFamily="2" charset="-122"/>
              </a:rPr>
              <a:t>Department of CEE</a:t>
            </a:r>
            <a:r>
              <a:rPr lang="en-US" sz="3200" dirty="0"/>
              <a:t>, University of Nottingham Ningbo China for support.</a:t>
            </a:r>
          </a:p>
        </p:txBody>
      </p:sp>
      <p:pic>
        <p:nvPicPr>
          <p:cNvPr id="41" name="Picture 40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184465D8-5032-1D5A-BF14-7528F25013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8521" y="22877665"/>
            <a:ext cx="7133788" cy="4509884"/>
          </a:xfrm>
          <a:prstGeom prst="rect">
            <a:avLst/>
          </a:prstGeom>
        </p:spPr>
      </p:pic>
      <p:pic>
        <p:nvPicPr>
          <p:cNvPr id="43" name="Picture 42" descr="A screenshot of a chart&#10;&#10;AI-generated content may be incorrect.">
            <a:extLst>
              <a:ext uri="{FF2B5EF4-FFF2-40B4-BE49-F238E27FC236}">
                <a16:creationId xmlns:a16="http://schemas.microsoft.com/office/drawing/2014/main" id="{0D8F207D-C3CE-4633-FE21-34357777C7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157" y="6261193"/>
            <a:ext cx="10463672" cy="624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8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542440B3381244913595524F442B95" ma:contentTypeVersion="17" ma:contentTypeDescription="Create a new document." ma:contentTypeScope="" ma:versionID="6ee5fad9225ee4861531c1ddf5c72bfa">
  <xsd:schema xmlns:xsd="http://www.w3.org/2001/XMLSchema" xmlns:xs="http://www.w3.org/2001/XMLSchema" xmlns:p="http://schemas.microsoft.com/office/2006/metadata/properties" xmlns:ns2="5ba57bcb-f582-4dfe-b097-ca0487efe0a8" xmlns:ns3="8f359d49-0ea8-407e-9873-8f4dcb0a2f66" targetNamespace="http://schemas.microsoft.com/office/2006/metadata/properties" ma:root="true" ma:fieldsID="0d90d1f6051f37191be1cc0d6b224652" ns2:_="" ns3:_="">
    <xsd:import namespace="5ba57bcb-f582-4dfe-b097-ca0487efe0a8"/>
    <xsd:import namespace="8f359d49-0ea8-407e-9873-8f4dcb0a2f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57bcb-f582-4dfe-b097-ca0487efe0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eec97fc6-704b-4e8b-a60b-3023a21630d3}" ma:internalName="TaxCatchAll" ma:showField="CatchAllData" ma:web="5ba57bcb-f582-4dfe-b097-ca0487efe0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359d49-0ea8-407e-9873-8f4dcb0a2f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b41eaff-6be1-43e3-aa28-e44eb035eb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ba57bcb-f582-4dfe-b097-ca0487efe0a8" xsi:nil="true"/>
    <lcf76f155ced4ddcb4097134ff3c332f xmlns="8f359d49-0ea8-407e-9873-8f4dcb0a2f6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FBA1C3-1007-45B2-9991-64F001C1E8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a57bcb-f582-4dfe-b097-ca0487efe0a8"/>
    <ds:schemaRef ds:uri="8f359d49-0ea8-407e-9873-8f4dcb0a2f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EBBC5C6-C79F-42CC-B03E-1C7D98C7F351}">
  <ds:schemaRefs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5ba57bcb-f582-4dfe-b097-ca0487efe0a8"/>
    <ds:schemaRef ds:uri="8f359d49-0ea8-407e-9873-8f4dcb0a2f66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4D092BC-268B-4DAB-904E-617AC27E3B5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281</TotalTime>
  <Words>469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 Zhang</dc:creator>
  <cp:lastModifiedBy>Dingyao GUO (20617079)</cp:lastModifiedBy>
  <cp:revision>24</cp:revision>
  <dcterms:created xsi:type="dcterms:W3CDTF">2022-05-10T01:47:32Z</dcterms:created>
  <dcterms:modified xsi:type="dcterms:W3CDTF">2025-10-20T19:26:31Z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0x01010004542440B3381244913595524F442B95</vt:lpwstr>
  </property>
  <property fmtid="{D5CDD505-2E9C-101B-9397-08002B2CF9AE}" pid="3" name="Order">
    <vt:r8>32685000</vt:r8>
  </property>
</Properties>
</file>